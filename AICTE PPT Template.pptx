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12" r:id="rId4"/>
  </p:sldMasterIdLst>
  <p:notesMasterIdLst>
    <p:notesMasterId r:id="rId16"/>
  </p:notesMasterIdLst>
  <p:sldIdLst>
    <p:sldId id="256" r:id="rId5"/>
    <p:sldId id="2146847054" r:id="rId6"/>
    <p:sldId id="262" r:id="rId7"/>
    <p:sldId id="263" r:id="rId8"/>
    <p:sldId id="265" r:id="rId9"/>
    <p:sldId id="2146847057" r:id="rId10"/>
    <p:sldId id="2146847060" r:id="rId11"/>
    <p:sldId id="2146847062" r:id="rId12"/>
    <p:sldId id="2146847061" r:id="rId13"/>
    <p:sldId id="2146847055" r:id="rId14"/>
    <p:sldId id="259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2BA97"/>
    <a:srgbClr val="8E6C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66" d="100"/>
          <a:sy n="66" d="100"/>
        </p:scale>
        <p:origin x="1301" y="317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6256A78-79A6-408F-8148-4F87BB81602D}" type="datetimeFigureOut">
              <a:rPr lang="en-IN" smtClean="0"/>
              <a:t>01-03-2025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7E254F1-4415-47BF-9E91-C5D4B9A3335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380084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6534" y="3085764"/>
            <a:ext cx="11298932" cy="3338149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anchor="b">
            <a:normAutofit/>
          </a:bodyPr>
          <a:lstStyle>
            <a:lvl1pPr>
              <a:defRPr sz="36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7FA0ACE7-29A8-47D3-A7D9-257B711D80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91B17-9318-49DB-B28B-6E5994AE9581}" type="datetime1">
              <a:rPr lang="en-US" smtClean="0"/>
              <a:t>3/1/2025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DEC604B9-52E9-4810-8359-47206518D0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5898A89F-CA25-400F-B05A-AECBF2517E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00175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53029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1302026"/>
            <a:ext cx="11029615" cy="467332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770E6237-3456-439F-802D-3BA93FC7E3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DD82B9-B8EE-4375-B6FF-88FA6ABB15D9}" type="datetime1">
              <a:rPr lang="en-US" smtClean="0"/>
              <a:t>3/1/2025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24434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2393950"/>
            <a:ext cx="11029615" cy="2147467"/>
          </a:xfrm>
        </p:spPr>
        <p:txBody>
          <a:bodyPr anchor="b">
            <a:normAutofit/>
          </a:bodyPr>
          <a:lstStyle>
            <a:lvl1pPr algn="l">
              <a:defRPr sz="3600" b="0" cap="all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1582016-5696-4A93-887F-BBB3B9002F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497495-0637-405E-AE64-5CC7506D51F5}" type="datetime1">
              <a:rPr lang="en-US" smtClean="0"/>
              <a:t>3/1/2025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57CFCD5-1192-4E18-8A8F-29E153B44D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E39A109E-5018-4794-92B3-FD5E5BCD95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6809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49285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3" y="1391479"/>
            <a:ext cx="5194767" cy="446957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6039" y="1391479"/>
            <a:ext cx="5194769" cy="446957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FFD690-9426-415D-8B65-26881E07B2D4}" type="datetime1">
              <a:rPr lang="en-US" smtClean="0"/>
              <a:t>3/1/2025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33232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1" y="2250891"/>
            <a:ext cx="5194769" cy="557784"/>
          </a:xfrm>
        </p:spPr>
        <p:txBody>
          <a:bodyPr anchor="ctr">
            <a:noAutofit/>
          </a:bodyPr>
          <a:lstStyle>
            <a:lvl1pPr marL="0" indent="0">
              <a:buNone/>
              <a:defRPr sz="20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4" y="2926052"/>
            <a:ext cx="5194766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6039" y="2250892"/>
            <a:ext cx="5194770" cy="553373"/>
          </a:xfrm>
        </p:spPr>
        <p:txBody>
          <a:bodyPr anchor="ctr">
            <a:noAutofit/>
          </a:bodyPr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tabLst/>
              <a:defRPr sz="20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tabLst/>
              <a:defRPr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6037" y="2926052"/>
            <a:ext cx="5194771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C4989A-474C-40DE-95B9-011C28B71673}" type="datetime1">
              <a:rPr lang="en-US" smtClean="0"/>
              <a:t>3/1/2025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80465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59224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B4ED54-5B5E-4A04-93D3-5772E3CE3818}" type="datetime1">
              <a:rPr lang="en-US" smtClean="0"/>
              <a:t>3/1/2025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9363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DE50D6-574B-40AF-946F-D52A04ADE379}" type="datetime1">
              <a:rPr lang="en-US" smtClean="0"/>
              <a:t>3/1/2025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94949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447817" y="601200"/>
            <a:ext cx="3682723" cy="5815475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7857" y="933450"/>
            <a:ext cx="3031852" cy="1722419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00928" y="1179829"/>
            <a:ext cx="6650991" cy="4658216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67857" y="2836654"/>
            <a:ext cx="3031852" cy="3001392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rgbClr val="FFFFFF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0B919CC2-2A65-446F-B538-9E624903544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05951" y="6456916"/>
            <a:ext cx="2844799" cy="365125"/>
          </a:xfrm>
        </p:spPr>
        <p:txBody>
          <a:bodyPr/>
          <a:lstStyle/>
          <a:p>
            <a:fld id="{D82884F1-FFEA-405F-9602-3DCA865EDA4E}" type="datetime1">
              <a:rPr lang="en-US" smtClean="0"/>
              <a:t>3/1/2025</a:t>
            </a:fld>
            <a:endParaRPr lang="en-US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B72412AE-119E-4982-8B24-63365EFCA7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1192" y="6452590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7FC4BB19-6AD1-45CF-9F99-00B109890F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58300" y="6456916"/>
            <a:ext cx="1052510" cy="365125"/>
          </a:xfrm>
        </p:spPr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17666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7817" y="641350"/>
            <a:ext cx="11290859" cy="3651249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998148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18DB4A-8810-4A10-AD5C-D5E2C667F5B3}" type="datetime1">
              <a:rPr lang="en-US" smtClean="0"/>
              <a:t>3/1/2025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pPr algn="l"/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32895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ED4963-E985-44C4-B8C4-FDD613B7C2F8}" type="datetime1">
              <a:rPr lang="en-US" smtClean="0"/>
              <a:t>3/1/2025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35911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8058151" y="599725"/>
            <a:ext cx="3687316" cy="5816950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204200" y="863600"/>
            <a:ext cx="3124200" cy="4807326"/>
          </a:xfrm>
        </p:spPr>
        <p:txBody>
          <a:bodyPr vert="eaVert" anchor="ctr"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4923" y="863600"/>
            <a:ext cx="7161625" cy="4807326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6423B97-A5D4-47B9-8861-73B3707A04CF}"/>
              </a:ext>
            </a:extLst>
          </p:cNvPr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AEC0421-37B4-4481-A10D-69FDF5EC7909}"/>
              </a:ext>
            </a:extLst>
          </p:cNvPr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F7265B5-9F97-4F1E-99E9-74F7B7E62337}"/>
              </a:ext>
            </a:extLst>
          </p:cNvPr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5C74A470-3BD3-4F33-80E5-67E6E87FCB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91B17-9318-49DB-B28B-6E5994AE9581}" type="datetime1">
              <a:rPr lang="en-US" smtClean="0"/>
              <a:t>3/1/2025</a:t>
            </a:fld>
            <a:endParaRPr lang="en-US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9A3A30BA-DB50-4D7D-BCDE-17D20FB354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76FF9E58-C0B2-436B-A21C-DB45A00D65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88496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55714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1415198"/>
            <a:ext cx="11029616" cy="457285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05951" y="6423914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ED291B17-9318-49DB-B28B-6E5994AE9581}" type="datetime1">
              <a:rPr lang="en-US" smtClean="0"/>
              <a:t>3/1/2025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58300" y="6423914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8" name="Picture 7" descr="Logo&#10;&#10;Description automatically generated">
            <a:extLst>
              <a:ext uri="{FF2B5EF4-FFF2-40B4-BE49-F238E27FC236}">
                <a16:creationId xmlns:a16="http://schemas.microsoft.com/office/drawing/2014/main" id="{14A64E4D-8DED-7830-2955-1BE78C5B0655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10485003" y="6437910"/>
            <a:ext cx="1125805" cy="3651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08978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6" r:id="rId1"/>
    <p:sldLayoutId id="2147483757" r:id="rId2"/>
    <p:sldLayoutId id="2147483758" r:id="rId3"/>
    <p:sldLayoutId id="2147483759" r:id="rId4"/>
    <p:sldLayoutId id="2147483711" r:id="rId5"/>
    <p:sldLayoutId id="2147483760" r:id="rId6"/>
    <p:sldLayoutId id="2147483762" r:id="rId7"/>
    <p:sldLayoutId id="2147483706" r:id="rId8"/>
    <p:sldLayoutId id="2147483709" r:id="rId9"/>
    <p:sldLayoutId id="2147483707" r:id="rId10"/>
    <p:sldLayoutId id="2147483708" r:id="rId11"/>
  </p:sldLayoutIdLst>
  <p:hf sldNum="0" hdr="0" ftr="0" dt="0"/>
  <p:txStyles>
    <p:titleStyle>
      <a:lvl1pPr algn="l" defTabSz="457200" rtl="0" eaLnBrk="1" latinLnBrk="0" hangingPunct="1">
        <a:lnSpc>
          <a:spcPct val="100000"/>
        </a:lnSpc>
        <a:spcBef>
          <a:spcPct val="0"/>
        </a:spcBef>
        <a:buNone/>
        <a:defRPr sz="2800" b="0" kern="1200" cap="all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lnSpc>
          <a:spcPct val="110000"/>
        </a:lnSpc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7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1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1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A11E26-4C38-41A6-9857-11032CEECD8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59108" y="1821635"/>
            <a:ext cx="9144000" cy="977778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Secure Data Hiding in Image Using Steganography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-329782" y="1034321"/>
            <a:ext cx="12726648" cy="58477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Arial"/>
                <a:cs typeface="Arial"/>
              </a:rPr>
              <a:t>CAPSTONE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117529" y="4586365"/>
            <a:ext cx="7980183" cy="163121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2000" b="1" dirty="0">
                <a:solidFill>
                  <a:schemeClr val="accent1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Presented By: </a:t>
            </a:r>
          </a:p>
          <a:p>
            <a:r>
              <a:rPr lang="en-US" sz="2000" b="1" dirty="0">
                <a:solidFill>
                  <a:schemeClr val="accent1">
                    <a:lumMod val="75000"/>
                  </a:schemeClr>
                </a:solidFill>
                <a:latin typeface="Arial"/>
                <a:cs typeface="Arial"/>
              </a:rPr>
              <a:t>Student Name : Aditya </a:t>
            </a:r>
            <a:r>
              <a:rPr lang="en-US" sz="2000" b="1" dirty="0" err="1">
                <a:solidFill>
                  <a:schemeClr val="accent1">
                    <a:lumMod val="75000"/>
                  </a:schemeClr>
                </a:solidFill>
                <a:latin typeface="Arial"/>
                <a:cs typeface="Arial"/>
              </a:rPr>
              <a:t>Satyavan</a:t>
            </a:r>
            <a:r>
              <a:rPr lang="en-US" sz="2000" b="1" dirty="0">
                <a:solidFill>
                  <a:schemeClr val="accent1">
                    <a:lumMod val="75000"/>
                  </a:schemeClr>
                </a:solidFill>
                <a:latin typeface="Arial"/>
                <a:cs typeface="Arial"/>
              </a:rPr>
              <a:t> Bhagat</a:t>
            </a:r>
          </a:p>
          <a:p>
            <a:r>
              <a:rPr lang="en-US" sz="2000" b="1" dirty="0">
                <a:solidFill>
                  <a:schemeClr val="accent1">
                    <a:lumMod val="75000"/>
                  </a:schemeClr>
                </a:solidFill>
                <a:latin typeface="Arial"/>
                <a:cs typeface="Arial"/>
              </a:rPr>
              <a:t>College Name &amp; Department : Shri </a:t>
            </a:r>
            <a:r>
              <a:rPr lang="en-US" sz="2000" b="1" dirty="0" err="1">
                <a:solidFill>
                  <a:schemeClr val="accent1">
                    <a:lumMod val="75000"/>
                  </a:schemeClr>
                </a:solidFill>
                <a:latin typeface="Arial"/>
                <a:cs typeface="Arial"/>
              </a:rPr>
              <a:t>Balasaheb</a:t>
            </a:r>
            <a:r>
              <a:rPr lang="en-US" sz="2000" b="1" dirty="0">
                <a:solidFill>
                  <a:schemeClr val="accent1">
                    <a:lumMod val="75000"/>
                  </a:schemeClr>
                </a:solidFill>
                <a:latin typeface="Arial"/>
                <a:cs typeface="Arial"/>
              </a:rPr>
              <a:t> Mane </a:t>
            </a:r>
            <a:r>
              <a:rPr lang="en-US" sz="2000" b="1" dirty="0" err="1">
                <a:solidFill>
                  <a:schemeClr val="accent1">
                    <a:lumMod val="75000"/>
                  </a:schemeClr>
                </a:solidFill>
                <a:latin typeface="Arial"/>
                <a:cs typeface="Arial"/>
              </a:rPr>
              <a:t>Shikshan</a:t>
            </a:r>
            <a:r>
              <a:rPr lang="en-US" sz="2000" b="1" dirty="0">
                <a:solidFill>
                  <a:schemeClr val="accent1">
                    <a:lumMod val="75000"/>
                  </a:schemeClr>
                </a:solidFill>
                <a:latin typeface="Arial"/>
                <a:cs typeface="Arial"/>
              </a:rPr>
              <a:t> </a:t>
            </a:r>
            <a:r>
              <a:rPr lang="en-US" sz="2000" b="1" dirty="0" err="1">
                <a:solidFill>
                  <a:schemeClr val="accent1">
                    <a:lumMod val="75000"/>
                  </a:schemeClr>
                </a:solidFill>
                <a:latin typeface="Arial"/>
                <a:cs typeface="Arial"/>
              </a:rPr>
              <a:t>Prasarak</a:t>
            </a:r>
            <a:r>
              <a:rPr lang="en-US" sz="2000" b="1" dirty="0">
                <a:solidFill>
                  <a:schemeClr val="accent1">
                    <a:lumMod val="75000"/>
                  </a:schemeClr>
                </a:solidFill>
                <a:latin typeface="Arial"/>
                <a:cs typeface="Arial"/>
              </a:rPr>
              <a:t> Mandal’s, </a:t>
            </a:r>
            <a:r>
              <a:rPr lang="en-US" sz="2000" b="1" dirty="0" err="1">
                <a:solidFill>
                  <a:schemeClr val="accent1">
                    <a:lumMod val="75000"/>
                  </a:schemeClr>
                </a:solidFill>
                <a:latin typeface="Arial"/>
                <a:cs typeface="Arial"/>
              </a:rPr>
              <a:t>Ashokrao</a:t>
            </a:r>
            <a:r>
              <a:rPr lang="en-US" sz="2000" b="1" dirty="0">
                <a:solidFill>
                  <a:schemeClr val="accent1">
                    <a:lumMod val="75000"/>
                  </a:schemeClr>
                </a:solidFill>
                <a:latin typeface="Arial"/>
                <a:cs typeface="Arial"/>
              </a:rPr>
              <a:t> Mane Group of Institution - CSE</a:t>
            </a:r>
          </a:p>
          <a:p>
            <a:endParaRPr lang="en-US" sz="2000" b="1" dirty="0">
              <a:solidFill>
                <a:schemeClr val="accent1">
                  <a:lumMod val="75000"/>
                </a:schemeClr>
              </a:solidFill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9533255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FFEB4C-F209-4AE7-AA2B-B3C26CE2C5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9573" y="558468"/>
            <a:ext cx="10515600" cy="1325563"/>
          </a:xfrm>
        </p:spPr>
        <p:txBody>
          <a:bodyPr/>
          <a:lstStyle/>
          <a:p>
            <a:r>
              <a:rPr lang="en-US" b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678641-EEA3-4EC4-BF39-4075B0C120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18938"/>
            <a:ext cx="11019020" cy="5239062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buNone/>
            </a:pPr>
            <a:r>
              <a:rPr lang="en-US" sz="2000" b="1" dirty="0">
                <a:latin typeface="Arial"/>
                <a:ea typeface="+mn-lt"/>
                <a:cs typeface="Arial"/>
              </a:rPr>
              <a:t>  </a:t>
            </a:r>
            <a:endParaRPr lang="en-US" dirty="0">
              <a:latin typeface="Arial"/>
              <a:cs typeface="Arial"/>
            </a:endParaRPr>
          </a:p>
          <a:p>
            <a:pPr marL="305435" indent="-305435"/>
            <a:r>
              <a:rPr lang="en-US" sz="2000" b="1" dirty="0">
                <a:latin typeface="Arial"/>
                <a:ea typeface="+mn-lt"/>
                <a:cs typeface="Arial"/>
              </a:rPr>
              <a:t>Problem Statement </a:t>
            </a:r>
          </a:p>
          <a:p>
            <a:pPr marL="305435" indent="-305435"/>
            <a:r>
              <a:rPr lang="en-US" sz="2000" b="1" dirty="0">
                <a:latin typeface="Arial"/>
                <a:ea typeface="+mn-lt"/>
                <a:cs typeface="Arial"/>
              </a:rPr>
              <a:t>Technology used</a:t>
            </a:r>
            <a:endParaRPr lang="en-US" dirty="0">
              <a:latin typeface="Arial"/>
              <a:cs typeface="Arial"/>
            </a:endParaRPr>
          </a:p>
          <a:p>
            <a:pPr marL="305435" indent="-305435"/>
            <a:r>
              <a:rPr lang="en-US" sz="2000" b="1" dirty="0">
                <a:latin typeface="Arial"/>
                <a:ea typeface="+mn-lt"/>
                <a:cs typeface="+mn-lt"/>
              </a:rPr>
              <a:t>Wow factor </a:t>
            </a:r>
            <a:endParaRPr lang="en-US" sz="2000" dirty="0">
              <a:latin typeface="Arial"/>
              <a:ea typeface="+mn-lt"/>
              <a:cs typeface="+mn-lt"/>
            </a:endParaRPr>
          </a:p>
          <a:p>
            <a:pPr marL="305435" indent="-305435"/>
            <a:r>
              <a:rPr lang="en-US" sz="2000" b="1" dirty="0">
                <a:latin typeface="Arial"/>
                <a:ea typeface="+mn-lt"/>
                <a:cs typeface="+mn-lt"/>
              </a:rPr>
              <a:t>End users</a:t>
            </a:r>
          </a:p>
          <a:p>
            <a:pPr marL="305435" indent="-305435"/>
            <a:r>
              <a:rPr lang="en-US" sz="2000" b="1" dirty="0">
                <a:latin typeface="Arial"/>
                <a:ea typeface="+mn-lt"/>
                <a:cs typeface="+mn-lt"/>
              </a:rPr>
              <a:t>Result</a:t>
            </a:r>
          </a:p>
          <a:p>
            <a:pPr marL="305435" indent="-305435"/>
            <a:r>
              <a:rPr lang="en-US" sz="2000" b="1" dirty="0">
                <a:latin typeface="Arial"/>
                <a:ea typeface="+mn-lt"/>
                <a:cs typeface="+mn-lt"/>
              </a:rPr>
              <a:t>Conclusion</a:t>
            </a:r>
          </a:p>
          <a:p>
            <a:pPr marL="305435" indent="-305435"/>
            <a:r>
              <a:rPr lang="en-US" sz="2000" b="1" dirty="0">
                <a:latin typeface="Arial"/>
                <a:ea typeface="+mn-lt"/>
                <a:cs typeface="+mn-lt"/>
              </a:rPr>
              <a:t>Git-hub Link</a:t>
            </a:r>
          </a:p>
          <a:p>
            <a:pPr marL="305435" indent="-305435"/>
            <a:r>
              <a:rPr lang="en-US" sz="2000" b="1" dirty="0">
                <a:latin typeface="Arial"/>
                <a:ea typeface="+mn-lt"/>
                <a:cs typeface="+mn-lt"/>
              </a:rPr>
              <a:t>Future scope</a:t>
            </a:r>
          </a:p>
          <a:p>
            <a:pPr marL="0" indent="0">
              <a:buNone/>
            </a:pPr>
            <a:endParaRPr lang="en-US" sz="2000" b="1" dirty="0">
              <a:latin typeface="Arial"/>
              <a:ea typeface="+mn-lt"/>
              <a:cs typeface="+mn-lt"/>
            </a:endParaRPr>
          </a:p>
          <a:p>
            <a:pPr marL="305435" indent="-305435"/>
            <a:endParaRPr lang="en-US" sz="2000" b="1" dirty="0">
              <a:latin typeface="Arial"/>
              <a:ea typeface="+mn-lt"/>
              <a:cs typeface="+mn-lt"/>
            </a:endParaRPr>
          </a:p>
          <a:p>
            <a:pPr marL="305435" indent="-305435"/>
            <a:endParaRPr lang="en-US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9001537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FBA75B4-2DD5-42EB-9397-F36BFB8BA7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530296"/>
          </a:xfrm>
        </p:spPr>
        <p:txBody>
          <a:bodyPr>
            <a:normAutofit fontScale="90000"/>
          </a:bodyPr>
          <a:lstStyle/>
          <a:p>
            <a:r>
              <a:rPr lang="en-US" sz="4400" b="1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Problem Statement</a:t>
            </a:r>
            <a:endParaRPr lang="en-US" sz="4400" dirty="0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BAEB2052-144B-5719-D725-50995E841926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761216" y="1509451"/>
            <a:ext cx="10669567" cy="3416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 security is a major concern in the digital world, as unauthorized access can lead to privacy breaches.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Traditional encryption methods make data secure but also attract attention from hackers.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There is a need for a covert method to securely transfer sensitive information without raising suspicion.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Steganography offers a way to hide confidential data within images, making it nearly undetectable. </a:t>
            </a:r>
          </a:p>
        </p:txBody>
      </p:sp>
    </p:spTree>
    <p:extLst>
      <p:ext uri="{BB962C8B-B14F-4D97-AF65-F5344CB8AC3E}">
        <p14:creationId xmlns:p14="http://schemas.microsoft.com/office/powerpoint/2010/main" val="11864211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FBA75B4-2DD5-42EB-9397-F36BFB8BA7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400" b="1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Technology  used</a:t>
            </a:r>
            <a:endParaRPr lang="en-US" sz="4400" dirty="0"/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FC0EC787-0F8F-0CE3-9341-AE6B92778B55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1162384" y="7728949"/>
            <a:ext cx="10139424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Content Placeholder 1">
            <a:extLst>
              <a:ext uri="{FF2B5EF4-FFF2-40B4-BE49-F238E27FC236}">
                <a16:creationId xmlns:a16="http://schemas.microsoft.com/office/drawing/2014/main" id="{FC35FD38-D188-2283-3DC1-BC4DDF691C9B}"/>
              </a:ext>
            </a:extLst>
          </p:cNvPr>
          <p:cNvSpPr txBox="1">
            <a:spLocks/>
          </p:cNvSpPr>
          <p:nvPr/>
        </p:nvSpPr>
        <p:spPr>
          <a:xfrm>
            <a:off x="-1466003" y="2532554"/>
            <a:ext cx="993589" cy="123114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306000" indent="-306000" algn="l" defTabSz="457200" rtl="0" eaLnBrk="1" latinLnBrk="0" hangingPunct="1">
              <a:lnSpc>
                <a:spcPct val="11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Char char=""/>
              <a:defRPr sz="17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Char char=""/>
              <a:defRPr sz="13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Char char=""/>
              <a:defRPr sz="11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Char char=""/>
              <a:defRPr sz="11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 2" panose="05020102010507070707" pitchFamily="18" charset="2"/>
              <a:buNone/>
            </a:pPr>
            <a:endParaRPr lang="en-IN" dirty="0"/>
          </a:p>
        </p:txBody>
      </p:sp>
      <p:sp>
        <p:nvSpPr>
          <p:cNvPr id="12" name="Rectangle 8">
            <a:extLst>
              <a:ext uri="{FF2B5EF4-FFF2-40B4-BE49-F238E27FC236}">
                <a16:creationId xmlns:a16="http://schemas.microsoft.com/office/drawing/2014/main" id="{96EF0B13-07F8-29F9-4D4D-74105D8BBE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6939" y="1348223"/>
            <a:ext cx="9893897" cy="455509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Programming Language: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Python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Libraries: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2000" dirty="0">
                <a:latin typeface="Arial Unicode MS"/>
              </a:rPr>
              <a:t>       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  1] cv2 (OpenCV)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– for image processing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          2]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os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– for handling file operations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          3] string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– for text processing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Concepts: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Least Significant Bit (LSB) encoding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stores message characters inside pixel values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Passcode-based authentication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ensures only authorized users can decrypt the message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103584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FBA75B4-2DD5-42EB-9397-F36BFB8BA7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1" y="771730"/>
            <a:ext cx="11029616" cy="530296"/>
          </a:xfrm>
        </p:spPr>
        <p:txBody>
          <a:bodyPr>
            <a:noAutofit/>
          </a:bodyPr>
          <a:lstStyle/>
          <a:p>
            <a:r>
              <a:rPr lang="en-US" sz="4000" b="1" dirty="0">
                <a:solidFill>
                  <a:schemeClr val="accent1"/>
                </a:solidFill>
                <a:latin typeface="Arial"/>
                <a:ea typeface="+mj-lt"/>
                <a:cs typeface="Arial"/>
              </a:rPr>
              <a:t>Wow factors</a:t>
            </a:r>
            <a:endParaRPr lang="en-US" sz="4000" dirty="0">
              <a:solidFill>
                <a:schemeClr val="accent1"/>
              </a:solidFill>
              <a:latin typeface="Calibri Light"/>
              <a:cs typeface="Calibri Light"/>
            </a:endParaRP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4FFAF3C-BA60-9181-132C-C36C403AAE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0721" y="885337"/>
            <a:ext cx="11029615" cy="4673324"/>
          </a:xfrm>
        </p:spPr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2400" b="1" dirty="0"/>
              <a:t>Passcode Protection:</a:t>
            </a:r>
            <a:r>
              <a:rPr lang="en-US" sz="2400" dirty="0"/>
              <a:t> Only authorized users can retrieve hidden data.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b="1" dirty="0"/>
              <a:t>Real Image Encryption:</a:t>
            </a:r>
            <a:r>
              <a:rPr lang="en-US" sz="2400" dirty="0"/>
              <a:t> The message is directly hidden inside pixel values instead of metadata.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b="1" dirty="0"/>
              <a:t>Minimal Image Distortion:</a:t>
            </a:r>
            <a:r>
              <a:rPr lang="en-US" sz="2400" dirty="0"/>
              <a:t> No significant visual changes to the image after hiding data.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b="1" dirty="0"/>
              <a:t>Easy Accessibility:</a:t>
            </a:r>
            <a:r>
              <a:rPr lang="en-US" sz="2400" dirty="0"/>
              <a:t> The script runs on any system with Python and OpenCV installed.</a:t>
            </a:r>
          </a:p>
        </p:txBody>
      </p:sp>
    </p:spTree>
    <p:extLst>
      <p:ext uri="{BB962C8B-B14F-4D97-AF65-F5344CB8AC3E}">
        <p14:creationId xmlns:p14="http://schemas.microsoft.com/office/powerpoint/2010/main" val="32020245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45986D-DBC5-8220-FE6F-7F2ABC7C4C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IN" sz="4000" b="1" dirty="0">
                <a:solidFill>
                  <a:schemeClr val="accent1"/>
                </a:solidFill>
              </a:rPr>
              <a:t>End users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D82FABE8-3365-1C8A-6C72-C2630D3DFEF7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81192" y="2067838"/>
            <a:ext cx="9731851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Government &amp; Defense Organizations: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Secure communication and data transmission.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Journalists &amp; Whistleblowers: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Hiding confidential information from surveillance.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Cybersecurity Experts: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Enhancing data security in networks.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General Users: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Protecting private messages and personal data. </a:t>
            </a:r>
          </a:p>
        </p:txBody>
      </p:sp>
    </p:spTree>
    <p:extLst>
      <p:ext uri="{BB962C8B-B14F-4D97-AF65-F5344CB8AC3E}">
        <p14:creationId xmlns:p14="http://schemas.microsoft.com/office/powerpoint/2010/main" val="38190438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F8070C-FF0D-BBE3-3D8A-C3794CCCE8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IN" sz="4000" b="1" dirty="0">
                <a:solidFill>
                  <a:schemeClr val="accent1"/>
                </a:solidFill>
              </a:rPr>
              <a:t>Results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5D7125-AC62-752D-6E68-9EB88BCC63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Screenshots of the outcome (min 3)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976BF786-D922-FA08-5A24-38312BAA01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7227" y="1364097"/>
            <a:ext cx="4390879" cy="5117726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098FF3DA-3D83-12CF-D08F-A7304DFB65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94242" y="1352522"/>
            <a:ext cx="6516565" cy="2342606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398AA35B-D49A-952D-CD17-EBED9C742D3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94242" y="4026854"/>
            <a:ext cx="6364905" cy="2128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37152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4C6B3D-1072-C2D2-EBFE-E33CABE394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IN" sz="4000" dirty="0">
                <a:solidFill>
                  <a:schemeClr val="accent1"/>
                </a:solidFill>
              </a:rPr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974547-DF1B-77BB-E545-9344EDB9AD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8595" y="967304"/>
            <a:ext cx="11029615" cy="4673324"/>
          </a:xfrm>
        </p:spPr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The </a:t>
            </a:r>
            <a:r>
              <a:rPr lang="en-US" sz="2400" b="1" dirty="0"/>
              <a:t>Python-based LSB steganography</a:t>
            </a:r>
            <a:r>
              <a:rPr lang="en-US" sz="2400" dirty="0"/>
              <a:t> method ensures secure data hiding inside images.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The use of </a:t>
            </a:r>
            <a:r>
              <a:rPr lang="en-US" sz="2400" b="1" dirty="0"/>
              <a:t>passcode authentication</a:t>
            </a:r>
            <a:r>
              <a:rPr lang="en-US" sz="2400" dirty="0"/>
              <a:t> makes it harder for unauthorized access.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This method provides an </a:t>
            </a:r>
            <a:r>
              <a:rPr lang="en-US" sz="2400" b="1" dirty="0"/>
              <a:t>effective, lightweight</a:t>
            </a:r>
            <a:r>
              <a:rPr lang="en-US" sz="2400" dirty="0"/>
              <a:t> solution for </a:t>
            </a:r>
            <a:r>
              <a:rPr lang="en-US" sz="2400" b="1" dirty="0"/>
              <a:t>covert data transmission</a:t>
            </a:r>
            <a:r>
              <a:rPr lang="en-US" sz="24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23388237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E9F08C-D61F-627D-C4E5-397E3E84FC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IN" sz="4000" dirty="0">
                <a:solidFill>
                  <a:schemeClr val="accent1"/>
                </a:solidFill>
              </a:rPr>
              <a:t>GitHub Link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A299DD-46FA-7866-41D8-C1BFCC2F69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Make sure that there should be readme file</a:t>
            </a:r>
          </a:p>
        </p:txBody>
      </p:sp>
    </p:spTree>
    <p:extLst>
      <p:ext uri="{BB962C8B-B14F-4D97-AF65-F5344CB8AC3E}">
        <p14:creationId xmlns:p14="http://schemas.microsoft.com/office/powerpoint/2010/main" val="223066476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3F968F13-9AC4-7120-7ACD-9F752C767D5D}"/>
              </a:ext>
            </a:extLst>
          </p:cNvPr>
          <p:cNvSpPr txBox="1">
            <a:spLocks/>
          </p:cNvSpPr>
          <p:nvPr/>
        </p:nvSpPr>
        <p:spPr>
          <a:xfrm>
            <a:off x="535670" y="844659"/>
            <a:ext cx="11029616" cy="530296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4572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800" b="0" kern="1200" cap="all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4000" b="1" dirty="0">
                <a:solidFill>
                  <a:schemeClr val="accent1"/>
                </a:solidFill>
                <a:latin typeface="Arial"/>
                <a:cs typeface="Arial"/>
              </a:rPr>
              <a:t>Future scope(optional)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1F674567-806A-3C2A-9654-38F6AED8EC5A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731664" y="1841027"/>
            <a:ext cx="9650828" cy="30469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Enhancing Security: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Adding advanced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encryption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(AES, RSA) before embedding the message.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Increasing Capacity: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Optimizing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image storage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to hide larger text or files.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User-Friendly Interface: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Building a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GUI-based tool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or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mobile app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for easy use.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Multi-Layered Steganography: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Hiding data across multiple images for enhanced security. </a:t>
            </a:r>
          </a:p>
        </p:txBody>
      </p:sp>
    </p:spTree>
    <p:extLst>
      <p:ext uri="{BB962C8B-B14F-4D97-AF65-F5344CB8AC3E}">
        <p14:creationId xmlns:p14="http://schemas.microsoft.com/office/powerpoint/2010/main" val="61488268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BE4CA82-64EC-4D4E-A5E5-3EBB66E7B2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63041" y="2766218"/>
            <a:ext cx="9298744" cy="1325563"/>
          </a:xfrm>
        </p:spPr>
        <p:txBody>
          <a:bodyPr/>
          <a:lstStyle/>
          <a:p>
            <a:pPr algn="ctr"/>
            <a:r>
              <a:rPr lang="en-US" b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4066255318"/>
      </p:ext>
    </p:extLst>
  </p:cSld>
  <p:clrMapOvr>
    <a:masterClrMapping/>
  </p:clrMapOvr>
</p:sld>
</file>

<file path=ppt/theme/theme1.xml><?xml version="1.0" encoding="utf-8"?>
<a:theme xmlns:a="http://schemas.openxmlformats.org/drawingml/2006/main" name="DividendVTI">
  <a:themeElements>
    <a:clrScheme name="Blue II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Dividend">
      <a:majorFont>
        <a:latin typeface="Franklin Gothic Demi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Book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VTI" id="{97558BDE-0B66-457C-BB6F-7B1B22DAA9B8}" vid="{F53508A3-AC60-448A-AF37-934D5F1A0D5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F0268AC5E70984D8FE60B7154176407" ma:contentTypeVersion="15" ma:contentTypeDescription="Create a new document." ma:contentTypeScope="" ma:versionID="104e359103f0f57b1cf9676756e5b944">
  <xsd:schema xmlns:xsd="http://www.w3.org/2001/XMLSchema" xmlns:xs="http://www.w3.org/2001/XMLSchema" xmlns:p="http://schemas.microsoft.com/office/2006/metadata/properties" xmlns:ns3="b30265f8-c5e2-4918-b4a1-b977299ca3e2" xmlns:ns4="fadb41d3-f9cb-40fb-903c-8cacaba95bb5" targetNamespace="http://schemas.microsoft.com/office/2006/metadata/properties" ma:root="true" ma:fieldsID="5615b8f8aa772998bad551f24a33de0e" ns3:_="" ns4:_="">
    <xsd:import namespace="b30265f8-c5e2-4918-b4a1-b977299ca3e2"/>
    <xsd:import namespace="fadb41d3-f9cb-40fb-903c-8cacaba95bb5"/>
    <xsd:element name="properties">
      <xsd:complexType>
        <xsd:sequence>
          <xsd:element name="documentManagement">
            <xsd:complexType>
              <xsd:all>
                <xsd:element ref="ns3:_activity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DateTaken" minOccurs="0"/>
                <xsd:element ref="ns3:MediaServiceObjectDetectorVersions" minOccurs="0"/>
                <xsd:element ref="ns3:MediaServiceSystem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LengthInSeconds" minOccurs="0"/>
                <xsd:element ref="ns3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30265f8-c5e2-4918-b4a1-b977299ca3e2" elementFormDefault="qualified">
    <xsd:import namespace="http://schemas.microsoft.com/office/2006/documentManagement/types"/>
    <xsd:import namespace="http://schemas.microsoft.com/office/infopath/2007/PartnerControls"/>
    <xsd:element name="_activity" ma:index="8" nillable="true" ma:displayName="_activity" ma:hidden="true" ma:internalName="_activity">
      <xsd:simpleType>
        <xsd:restriction base="dms:Note"/>
      </xsd:simpleType>
    </xsd:element>
    <xsd:element name="MediaServiceMetadata" ma:index="12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3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4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5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bjectDetectorVersions" ma:index="16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ystemTags" ma:index="17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9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0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21" nillable="true" ma:displayName="MediaLengthInSeconds" ma:hidden="true" ma:internalName="MediaLengthInSeconds" ma:readOnly="true">
      <xsd:simpleType>
        <xsd:restriction base="dms:Unknown"/>
      </xsd:simpleType>
    </xsd:element>
    <xsd:element name="MediaServiceLocation" ma:index="22" nillable="true" ma:displayName="Location" ma:indexed="true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adb41d3-f9cb-40fb-903c-8cacaba95bb5" elementFormDefault="qualified">
    <xsd:import namespace="http://schemas.microsoft.com/office/2006/documentManagement/types"/>
    <xsd:import namespace="http://schemas.microsoft.com/office/infopath/2007/PartnerControls"/>
    <xsd:element name="SharedWithUsers" ma:index="9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0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1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b30265f8-c5e2-4918-b4a1-b977299ca3e2" xsi:nil="true"/>
  </documentManagement>
</p:properties>
</file>

<file path=customXml/itemProps1.xml><?xml version="1.0" encoding="utf-8"?>
<ds:datastoreItem xmlns:ds="http://schemas.openxmlformats.org/officeDocument/2006/customXml" ds:itemID="{927BD4C1-B6B1-4715-ABF9-E660A51A4EA0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9DD71778-17EE-4151-88AE-C8F4E8043BD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b30265f8-c5e2-4918-b4a1-b977299ca3e2"/>
    <ds:schemaRef ds:uri="fadb41d3-f9cb-40fb-903c-8cacaba95bb5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8D289AE2-D2AE-49D1-AFAC-3A79F6794255}">
  <ds:schemaRefs>
    <ds:schemaRef ds:uri="http://schemas.openxmlformats.org/package/2006/metadata/core-properties"/>
    <ds:schemaRef ds:uri="http://schemas.microsoft.com/office/2006/documentManagement/types"/>
    <ds:schemaRef ds:uri="http://purl.org/dc/dcmitype/"/>
    <ds:schemaRef ds:uri="http://schemas.microsoft.com/office/infopath/2007/PartnerControls"/>
    <ds:schemaRef ds:uri="http://purl.org/dc/elements/1.1/"/>
    <ds:schemaRef ds:uri="http://schemas.microsoft.com/office/2006/metadata/properties"/>
    <ds:schemaRef ds:uri="fadb41d3-f9cb-40fb-903c-8cacaba95bb5"/>
    <ds:schemaRef ds:uri="http://purl.org/dc/terms/"/>
    <ds:schemaRef ds:uri="b30265f8-c5e2-4918-b4a1-b977299ca3e2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Future forward</Template>
  <TotalTime>101</TotalTime>
  <Words>404</Words>
  <Application>Microsoft Office PowerPoint</Application>
  <PresentationFormat>Widescreen</PresentationFormat>
  <Paragraphs>57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9" baseType="lpstr">
      <vt:lpstr>Arial</vt:lpstr>
      <vt:lpstr>Arial Unicode MS</vt:lpstr>
      <vt:lpstr>Calibri</vt:lpstr>
      <vt:lpstr>Calibri Light</vt:lpstr>
      <vt:lpstr>Franklin Gothic Book</vt:lpstr>
      <vt:lpstr>Franklin Gothic Demi</vt:lpstr>
      <vt:lpstr>Wingdings 2</vt:lpstr>
      <vt:lpstr>DividendVTI</vt:lpstr>
      <vt:lpstr>Secure Data Hiding in Image Using Steganography</vt:lpstr>
      <vt:lpstr>OUTLINE</vt:lpstr>
      <vt:lpstr>Problem Statement</vt:lpstr>
      <vt:lpstr>Technology  used</vt:lpstr>
      <vt:lpstr>Wow factors</vt:lpstr>
      <vt:lpstr>End users</vt:lpstr>
      <vt:lpstr>Results</vt:lpstr>
      <vt:lpstr>Conclusion</vt:lpstr>
      <vt:lpstr>GitHub Link</vt:lpstr>
      <vt:lpstr>PowerPoint Presentation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SkillsBuild Partner Update template</dc:title>
  <dc:creator>Vaibhav Ostwal</dc:creator>
  <cp:lastModifiedBy>Aditya Bhagat</cp:lastModifiedBy>
  <cp:revision>26</cp:revision>
  <dcterms:created xsi:type="dcterms:W3CDTF">2021-05-26T16:50:10Z</dcterms:created>
  <dcterms:modified xsi:type="dcterms:W3CDTF">2025-03-01T17:31:02Z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0x0101007F0268AC5E70984D8FE60B7154176407</vt:lpwstr>
  </property>
</Properties>
</file>